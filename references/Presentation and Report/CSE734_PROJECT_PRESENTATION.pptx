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3E193BF-A3A1-41B7-B5FD-4168CE849F7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CEB597-AEDF-48F3-AE89-C1B9118E7BB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1A2CD3-D8EE-41CC-BB84-F6654C32846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B0BB7B-DECC-45B2-82C9-87ABA4AE35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ADFCE38-C131-44A7-AC7E-F160EBA4A5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1463FC5-3A73-43E5-B391-727FC35E75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2B3E4EF-79B9-43F2-A1E4-5AA55A57CA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E14FAF6-218F-4531-AA86-E07F8375AB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78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51040" y="1845720"/>
            <a:ext cx="49078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5716608-3969-4192-B6AB-4FEFFDD20A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8EF1F40-128F-4F89-9EE9-D931F6ECDC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56517C6-F08B-48E0-A61A-8EEDF519DA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B3962F9-5012-4CFA-A406-C00D804972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1F83A05F-289D-416C-9220-B15EA0A9EC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B6C209A-AFB1-441D-ACA8-018531CB39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15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Google Shape;11;p15" hidden="1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" name="Google Shape;17;p15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3" name="Google Shape;19;p16"/>
          <p:cNvSpPr/>
          <p:nvPr/>
        </p:nvSpPr>
        <p:spPr>
          <a:xfrm>
            <a:off x="3240" y="6400800"/>
            <a:ext cx="1218816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Google Shape;20;p16"/>
          <p:cNvSpPr/>
          <p:nvPr/>
        </p:nvSpPr>
        <p:spPr>
          <a:xfrm>
            <a:off x="0" y="6334200"/>
            <a:ext cx="12188160" cy="633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" name="Google Shape;26;p16"/>
          <p:cNvCxnSpPr/>
          <p:nvPr/>
        </p:nvCxnSpPr>
        <p:spPr>
          <a:xfrm>
            <a:off x="1207440" y="4343400"/>
            <a:ext cx="987624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pic>
        <p:nvPicPr>
          <p:cNvPr id="6" name="Google Shape;27;p16" descr="C:\Users\Srinidhi\Desktop\logo.png"/>
          <p:cNvPicPr/>
          <p:nvPr/>
        </p:nvPicPr>
        <p:blipFill>
          <a:blip r:embed="rId2"/>
          <a:stretch/>
        </p:blipFill>
        <p:spPr>
          <a:xfrm>
            <a:off x="0" y="-61920"/>
            <a:ext cx="2437560" cy="97632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1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2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0E3429-DCF9-4560-AC56-134346F53182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3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;p15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Google Shape;11;p15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" name="Google Shape;17;p15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pic>
        <p:nvPicPr>
          <p:cNvPr id="17" name="Google Shape;102;p25" descr="C:\Users\Srinidhi\Desktop\logo.png"/>
          <p:cNvPicPr/>
          <p:nvPr/>
        </p:nvPicPr>
        <p:blipFill>
          <a:blip r:embed="rId2"/>
          <a:stretch/>
        </p:blipFill>
        <p:spPr>
          <a:xfrm>
            <a:off x="213120" y="33120"/>
            <a:ext cx="2437560" cy="9763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ftr" idx="4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5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A8087C-0608-49A9-8D25-280E626D6832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6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10;p15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Google Shape;11;p15" hidden="1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" name="Google Shape;17;p15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24" name="Google Shape;104;p26"/>
          <p:cNvSpPr/>
          <p:nvPr/>
        </p:nvSpPr>
        <p:spPr>
          <a:xfrm>
            <a:off x="3240" y="6400800"/>
            <a:ext cx="1218816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Google Shape;105;p26"/>
          <p:cNvSpPr/>
          <p:nvPr/>
        </p:nvSpPr>
        <p:spPr>
          <a:xfrm>
            <a:off x="0" y="6334200"/>
            <a:ext cx="12188160" cy="633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Google Shape;111;p26" descr="C:\Users\Srinidhi\Desktop\logo.png"/>
          <p:cNvPicPr/>
          <p:nvPr/>
        </p:nvPicPr>
        <p:blipFill>
          <a:blip r:embed="rId2"/>
          <a:stretch/>
        </p:blipFill>
        <p:spPr>
          <a:xfrm>
            <a:off x="0" y="-28800"/>
            <a:ext cx="2437560" cy="976320"/>
          </a:xfrm>
          <a:prstGeom prst="rect">
            <a:avLst/>
          </a:prstGeom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ftr" idx="7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8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93CC75-D4C8-48BF-8BA8-990D540CBD38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9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;p15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Google Shape;11;p15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2" name="Google Shape;17;p15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pic>
        <p:nvPicPr>
          <p:cNvPr id="33" name="Google Shape;34;p17" descr="C:\Users\Srinidhi\Desktop\logo.png"/>
          <p:cNvPicPr/>
          <p:nvPr/>
        </p:nvPicPr>
        <p:blipFill>
          <a:blip r:embed="rId2"/>
          <a:stretch/>
        </p:blipFill>
        <p:spPr>
          <a:xfrm>
            <a:off x="175680" y="33120"/>
            <a:ext cx="2437560" cy="976320"/>
          </a:xfrm>
          <a:prstGeom prst="rect">
            <a:avLst/>
          </a:prstGeom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ftr" idx="10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sldNum" idx="11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6FE70B-F02D-4A7E-8076-75E4FD279226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dt" idx="12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0;p15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Google Shape;11;p15" hidden="1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3" name="Google Shape;17;p15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44" name="Google Shape;36;p18"/>
          <p:cNvSpPr/>
          <p:nvPr/>
        </p:nvSpPr>
        <p:spPr>
          <a:xfrm>
            <a:off x="3240" y="6400800"/>
            <a:ext cx="1218816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Google Shape;37;p18"/>
          <p:cNvSpPr/>
          <p:nvPr/>
        </p:nvSpPr>
        <p:spPr>
          <a:xfrm>
            <a:off x="0" y="6334200"/>
            <a:ext cx="12188160" cy="633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6" name="Google Shape;43;p18"/>
          <p:cNvCxnSpPr/>
          <p:nvPr/>
        </p:nvCxnSpPr>
        <p:spPr>
          <a:xfrm>
            <a:off x="1207440" y="4343400"/>
            <a:ext cx="987624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pic>
        <p:nvPicPr>
          <p:cNvPr id="47" name="Google Shape;44;p18" descr="C:\Users\Srinidhi\Desktop\logo.png"/>
          <p:cNvPicPr/>
          <p:nvPr/>
        </p:nvPicPr>
        <p:blipFill>
          <a:blip r:embed="rId2"/>
          <a:stretch/>
        </p:blipFill>
        <p:spPr>
          <a:xfrm>
            <a:off x="128520" y="33120"/>
            <a:ext cx="2437560" cy="97632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ftr" idx="13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4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CE1E54-E211-4D50-BAE1-52524FDB87EC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15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0;p15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Google Shape;11;p15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3" name="Google Shape;17;p15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pic>
        <p:nvPicPr>
          <p:cNvPr id="54" name="Google Shape;52;p19" descr="C:\Users\Srinidhi\Desktop\logo.png"/>
          <p:cNvPicPr/>
          <p:nvPr/>
        </p:nvPicPr>
        <p:blipFill>
          <a:blip r:embed="rId2"/>
          <a:stretch/>
        </p:blipFill>
        <p:spPr>
          <a:xfrm>
            <a:off x="0" y="-29160"/>
            <a:ext cx="2437560" cy="976320"/>
          </a:xfrm>
          <a:prstGeom prst="rect">
            <a:avLst/>
          </a:prstGeom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78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78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16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17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19BD47-EEEA-4ED0-8B16-3311C2BE880B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dt" idx="18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0;p15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Google Shape;11;p15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6" name="Google Shape;17;p15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pic>
        <p:nvPicPr>
          <p:cNvPr id="67" name="Google Shape;62;p20" descr="C:\Users\Srinidhi\Desktop\logo.png"/>
          <p:cNvPicPr/>
          <p:nvPr/>
        </p:nvPicPr>
        <p:blipFill>
          <a:blip r:embed="rId2"/>
          <a:stretch/>
        </p:blipFill>
        <p:spPr>
          <a:xfrm>
            <a:off x="119160" y="12240"/>
            <a:ext cx="2437560" cy="976320"/>
          </a:xfrm>
          <a:prstGeom prst="rect">
            <a:avLst/>
          </a:prstGeom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ftr" idx="19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ldNum" idx="20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E615F8-4D26-474F-9B73-BA68ECD45174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21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10;p15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Google Shape;11;p15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3" name="Google Shape;17;p15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pic>
        <p:nvPicPr>
          <p:cNvPr id="74" name="Google Shape;68;p21" descr="C:\Users\Srinidhi\Desktop\logo.png"/>
          <p:cNvPicPr/>
          <p:nvPr/>
        </p:nvPicPr>
        <p:blipFill>
          <a:blip r:embed="rId2"/>
          <a:stretch/>
        </p:blipFill>
        <p:spPr>
          <a:xfrm>
            <a:off x="260280" y="34920"/>
            <a:ext cx="2437560" cy="976320"/>
          </a:xfrm>
          <a:prstGeom prst="rect">
            <a:avLst/>
          </a:prstGeom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ftr" idx="22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23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4BEBFD-8A5D-40BC-9C25-3776146F3E28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24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10;p15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11;p15" hidden="1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2" name="Google Shape;17;p15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83" name="Google Shape;70;p22"/>
          <p:cNvSpPr/>
          <p:nvPr/>
        </p:nvSpPr>
        <p:spPr>
          <a:xfrm>
            <a:off x="3240" y="6400800"/>
            <a:ext cx="1218816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Google Shape;71;p22"/>
          <p:cNvSpPr/>
          <p:nvPr/>
        </p:nvSpPr>
        <p:spPr>
          <a:xfrm>
            <a:off x="0" y="6334200"/>
            <a:ext cx="12188160" cy="633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Google Shape;75;p22" descr="C:\Users\Srinidhi\Desktop\logo.png"/>
          <p:cNvPicPr/>
          <p:nvPr/>
        </p:nvPicPr>
        <p:blipFill>
          <a:blip r:embed="rId2"/>
          <a:stretch/>
        </p:blipFill>
        <p:spPr>
          <a:xfrm>
            <a:off x="137880" y="0"/>
            <a:ext cx="2437560" cy="976320"/>
          </a:xfrm>
          <a:prstGeom prst="rect">
            <a:avLst/>
          </a:prstGeom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ftr" idx="25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ldNum" idx="26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8AB74B-BA19-4396-8598-CA5898324EE6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dt" idx="27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10;p15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1;p15" hidden="1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1" name="Google Shape;17;p15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92" name="Google Shape;77;p23"/>
          <p:cNvSpPr/>
          <p:nvPr/>
        </p:nvSpPr>
        <p:spPr>
          <a:xfrm>
            <a:off x="0" y="0"/>
            <a:ext cx="4050000" cy="6857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78;p23"/>
          <p:cNvSpPr/>
          <p:nvPr/>
        </p:nvSpPr>
        <p:spPr>
          <a:xfrm>
            <a:off x="4039920" y="0"/>
            <a:ext cx="63360" cy="68572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Google Shape;85;p23" descr="C:\Users\Srinidhi\Desktop\logo.png"/>
          <p:cNvPicPr/>
          <p:nvPr/>
        </p:nvPicPr>
        <p:blipFill>
          <a:blip r:embed="rId2"/>
          <a:stretch/>
        </p:blipFill>
        <p:spPr>
          <a:xfrm>
            <a:off x="74880" y="-48960"/>
            <a:ext cx="2437560" cy="976320"/>
          </a:xfrm>
          <a:prstGeom prst="rect">
            <a:avLst/>
          </a:prstGeom>
          <a:ln w="0">
            <a:noFill/>
          </a:ln>
        </p:spPr>
      </p:pic>
      <p:sp>
        <p:nvSpPr>
          <p:cNvPr id="95" name="PlaceHolder 1"/>
          <p:cNvSpPr>
            <a:spLocks noGrp="1"/>
          </p:cNvSpPr>
          <p:nvPr>
            <p:ph type="ftr" idx="28"/>
          </p:nvPr>
        </p:nvSpPr>
        <p:spPr>
          <a:xfrm>
            <a:off x="4800600" y="6459840"/>
            <a:ext cx="46476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ldNum" idx="29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3A96A6-4B8D-4935-BA29-A442D640110F}" type="slidenum">
              <a:rPr b="0" lang="en-US" sz="1050" spc="-1" strike="noStrike">
                <a:solidFill>
                  <a:schemeClr val="dk2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dt" idx="30"/>
          </p:nvPr>
        </p:nvSpPr>
        <p:spPr>
          <a:xfrm>
            <a:off x="465480" y="6459840"/>
            <a:ext cx="26179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10;p15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1;p15" hidden="1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0" name="Google Shape;17;p15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101" name="Google Shape;87;p24"/>
          <p:cNvSpPr/>
          <p:nvPr/>
        </p:nvSpPr>
        <p:spPr>
          <a:xfrm>
            <a:off x="0" y="4952880"/>
            <a:ext cx="12188160" cy="19044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Google Shape;88;p24"/>
          <p:cNvSpPr/>
          <p:nvPr/>
        </p:nvSpPr>
        <p:spPr>
          <a:xfrm>
            <a:off x="0" y="4915080"/>
            <a:ext cx="12188160" cy="633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Google Shape;95;p24" descr="C:\Users\Srinidhi\Desktop\logo.png"/>
          <p:cNvPicPr/>
          <p:nvPr/>
        </p:nvPicPr>
        <p:blipFill>
          <a:blip r:embed="rId2"/>
          <a:stretch/>
        </p:blipFill>
        <p:spPr>
          <a:xfrm>
            <a:off x="0" y="33120"/>
            <a:ext cx="2437560" cy="976320"/>
          </a:xfrm>
          <a:prstGeom prst="rect">
            <a:avLst/>
          </a:prstGeom>
          <a:ln w="0">
            <a:noFill/>
          </a:ln>
        </p:spPr>
      </p:pic>
      <p:sp>
        <p:nvSpPr>
          <p:cNvPr id="104" name="PlaceHolder 1"/>
          <p:cNvSpPr>
            <a:spLocks noGrp="1"/>
          </p:cNvSpPr>
          <p:nvPr>
            <p:ph type="ftr" idx="31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ldNum" idx="32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46FAC8-8C12-495C-B927-1D778C82DC9E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dt" idx="33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71400" y="3605400"/>
            <a:ext cx="10848240" cy="111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62626"/>
                </a:solidFill>
                <a:latin typeface="Calibri"/>
                <a:ea typeface="Calibri"/>
              </a:rPr>
              <a:t>Project Title: 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DECENTRALIZED SAN USING THRESHOLD CRYPTOGRAPHY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117;p1"/>
          <p:cNvSpPr/>
          <p:nvPr/>
        </p:nvSpPr>
        <p:spPr>
          <a:xfrm>
            <a:off x="1866960" y="31428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M.S. Ramaiah Institute of Technology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(Autonomous Institute, Affiliated to VTU)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Department of Computer Science and Engineering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118;p1"/>
          <p:cNvSpPr/>
          <p:nvPr/>
        </p:nvSpPr>
        <p:spPr>
          <a:xfrm>
            <a:off x="7602120" y="4785480"/>
            <a:ext cx="45997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By: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Name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 USN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B Karthik                    1MS22CS038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Aditya U Yashwant  1MS22CS017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119;p1"/>
          <p:cNvSpPr/>
          <p:nvPr/>
        </p:nvSpPr>
        <p:spPr>
          <a:xfrm>
            <a:off x="830880" y="4790520"/>
            <a:ext cx="45997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Under the guidance of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Assistant Prof. Brunda 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120;p1"/>
          <p:cNvSpPr/>
          <p:nvPr/>
        </p:nvSpPr>
        <p:spPr>
          <a:xfrm>
            <a:off x="3340440" y="1651680"/>
            <a:ext cx="57747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Course Name: Storage Area Networks</a:t>
            </a:r>
            <a:br>
              <a:rPr sz="2400"/>
            </a:br>
            <a:r>
              <a:rPr b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Course Code:CSE734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3f3f3f"/>
                </a:solidFill>
                <a:latin typeface="Times New Roman"/>
                <a:ea typeface="Times New Roman"/>
              </a:rPr>
              <a:t>Problem Statement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457200" indent="-304920">
              <a:lnSpc>
                <a:spcPct val="90000"/>
              </a:lnSpc>
              <a:buClr>
                <a:srgbClr val="000000"/>
              </a:buClr>
              <a:buFont typeface="Times New Roman"/>
              <a:buChar char="●"/>
            </a:pP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Traditional </a:t>
            </a:r>
            <a:r>
              <a:rPr b="1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Storage Area Networks (SANs)</a:t>
            </a: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are </a:t>
            </a:r>
            <a:r>
              <a:rPr b="1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centralized</a:t>
            </a: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, making them: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04920">
              <a:lnSpc>
                <a:spcPct val="115000"/>
              </a:lnSpc>
              <a:spcBef>
                <a:spcPts val="201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Single points of failure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04920">
              <a:lnSpc>
                <a:spcPct val="115000"/>
              </a:lnSpc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Vulnerable to insider threats (admins, cloud providers)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04920">
              <a:lnSpc>
                <a:spcPct val="115000"/>
              </a:lnSpc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Targets for ransomware and data breaches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90000"/>
              </a:lnSpc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Users must </a:t>
            </a:r>
            <a:r>
              <a:rPr b="1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fully trust the storage provider</a:t>
            </a: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with raw data and encryption keys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90000"/>
              </a:lnSpc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Existing cloud SANs </a:t>
            </a:r>
            <a:r>
              <a:rPr b="1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cannot guarantee zero-knowledge storage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914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91440"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Why It Is Important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Rising data breaches and compliance requirements (GDPR, HIPAA)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Need for </a:t>
            </a:r>
            <a:r>
              <a:rPr b="1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confidential, tamper-proof, owner-controlled storage</a:t>
            </a:r>
            <a:br>
              <a:rPr sz="1200"/>
            </a:br>
            <a:r>
              <a:rPr b="1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Critical for enterprise, healthcare, finance, and research data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914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ftr" idx="37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DEPARTMENT OF COMPUTER SCIENCE AND ENGINEERING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sldNum" idx="38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A307C8-131F-4696-988E-2136E1BD1F48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3f3f3f"/>
                </a:solidFill>
                <a:latin typeface="Times New Roman"/>
                <a:ea typeface="Times New Roman"/>
              </a:rPr>
              <a:t>Objectives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1097280" y="23101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Design a </a:t>
            </a: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trustless decentralized SAN</a:t>
            </a:r>
            <a:br>
              <a:rPr sz="1100"/>
            </a:b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Ensure </a:t>
            </a: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no single entity</a:t>
            </a: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can access plaintext data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Implement </a:t>
            </a: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client-side encryption</a:t>
            </a:r>
            <a:br>
              <a:rPr sz="1100"/>
            </a:b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Split encryption keys using </a:t>
            </a: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Shamir’s Secret Sharing</a:t>
            </a:r>
            <a:br>
              <a:rPr sz="1100"/>
            </a:b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Store encrypted data in </a:t>
            </a: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IPFS</a:t>
            </a:r>
            <a:br>
              <a:rPr sz="1100"/>
            </a:b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Use </a:t>
            </a: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blockchain</a:t>
            </a: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for immutable metadata and ownership verification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Demonstrate secure upload and retrieval workflows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ftr" idx="39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DEPARTMENT OF COMPUTER SCIENCE AND ENGINEERING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sldNum" idx="40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F565F7-6E85-429B-926A-B2EEFC4AE966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3f3f3f"/>
                </a:solidFill>
                <a:latin typeface="Times New Roman"/>
                <a:ea typeface="Times New Roman"/>
              </a:rPr>
              <a:t>Related Work / Background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1097280" y="217080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81111" lnSpcReduction="10000"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Arial"/>
                <a:ea typeface="Arial"/>
              </a:rPr>
              <a:t>Existing SAN &amp; Storage Solutions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Traditional SANs (Fibre Channel, iSCSI)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Cloud Storage (AWS S3, Azure Blob)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Distributed Storage (Ceph, HDFS)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Decentralized Storage (IPFS, Storj, Filecoin)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Arial"/>
                <a:ea typeface="Arial"/>
              </a:rPr>
              <a:t>Identified Gap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Most solutions: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826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Either decentralize </a:t>
            </a: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storage only</a:t>
            </a:r>
            <a:br>
              <a:rPr sz="1100"/>
            </a:b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826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Or still rely on </a:t>
            </a: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centralized key management</a:t>
            </a:r>
            <a:br>
              <a:rPr sz="1100"/>
            </a:b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Gap:</a:t>
            </a: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Lack of a </a:t>
            </a: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fully trustless SAN</a:t>
            </a: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combining: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826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Client-side encryption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826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Distributed key ownership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826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Blockchain-based verification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41"/>
          </p:nvPr>
        </p:nvSpPr>
        <p:spPr>
          <a:xfrm>
            <a:off x="9900360" y="6459840"/>
            <a:ext cx="13111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62FE0B-8F2C-42D2-834F-83FD5E3A52A0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3f3f3f"/>
                </a:solidFill>
                <a:latin typeface="Times New Roman"/>
                <a:ea typeface="Times New Roman"/>
              </a:rPr>
              <a:t>Literature Review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0" name="Google Shape;150;p5"/>
          <p:cNvGraphicFramePr/>
          <p:nvPr/>
        </p:nvGraphicFramePr>
        <p:xfrm>
          <a:off x="959760" y="1775880"/>
          <a:ext cx="10967760" cy="4333680"/>
        </p:xfrm>
        <a:graphic>
          <a:graphicData uri="http://schemas.openxmlformats.org/drawingml/2006/table">
            <a:tbl>
              <a:tblPr/>
              <a:tblGrid>
                <a:gridCol w="1711800"/>
                <a:gridCol w="1711800"/>
                <a:gridCol w="2246400"/>
                <a:gridCol w="1665360"/>
                <a:gridCol w="1224000"/>
                <a:gridCol w="2408760"/>
              </a:tblGrid>
              <a:tr h="1120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Sl. No.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Author &amp; Year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Title of the Paper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Key Focus / Method Used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Findings / Contribution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Limitations / Research Gap Identified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244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D. Yang , 2024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An Optimized Encryption Storage Scheme for Blockchain Data Using Threshold Secret Sharing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Threshold secret sharing with blockchain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Improved data confidentiality and fault tolerance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Storage overhead and limited SAN integration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89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M. R. Haque , 2025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Integrated Blockchain and IPFS-Based Solution for Secure Version Control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Blockchain + IPFS integration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Secure, immutable version control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Focuses on versioning, not key decentralization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1" name="PlaceHolder 2"/>
          <p:cNvSpPr>
            <a:spLocks noGrp="1"/>
          </p:cNvSpPr>
          <p:nvPr>
            <p:ph type="ftr" idx="42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DEPARTMENT OF COMPUTER SCIENCE AND ENGINEERING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43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1364EA-ED7D-4736-9556-474FE526FA6B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3f3f3f"/>
                </a:solidFill>
                <a:latin typeface="Times New Roman"/>
                <a:ea typeface="Times New Roman"/>
              </a:rPr>
              <a:t>Literature Review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4" name="Google Shape;158;g3b077e766a9_0_69"/>
          <p:cNvGraphicFramePr/>
          <p:nvPr/>
        </p:nvGraphicFramePr>
        <p:xfrm>
          <a:off x="123120" y="1796400"/>
          <a:ext cx="11797560" cy="4480560"/>
        </p:xfrm>
        <a:graphic>
          <a:graphicData uri="http://schemas.openxmlformats.org/drawingml/2006/table">
            <a:tbl>
              <a:tblPr/>
              <a:tblGrid>
                <a:gridCol w="1966320"/>
                <a:gridCol w="1966320"/>
                <a:gridCol w="1966320"/>
                <a:gridCol w="1966320"/>
                <a:gridCol w="1966320"/>
                <a:gridCol w="1966320"/>
              </a:tblGrid>
              <a:tr h="862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Sl. No.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Author &amp; Year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Title of the Paper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Key Focus / Method Used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Findings / Contribution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Limitations / Research Gap Identified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66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P. Sharma , 2021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Blockchain-Based Decentralized Architecture for Cloud Storage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Decentralized cloud storage design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Improved trust and availability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Centralized key handling remains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458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T. V. Doan , 2022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Toward Decentralized Cloud Storage With IPFS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IPFS-based decentralized storage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Identifies scalability and performance issues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Lacks encryption &amp; access control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458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J. Benet, 2014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IPFS—Content Addressed, Versioned, P2P File System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Content-addressed P2P storage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Foundation of decentralized storage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No built-in security or key management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5" name="PlaceHolder 2"/>
          <p:cNvSpPr>
            <a:spLocks noGrp="1"/>
          </p:cNvSpPr>
          <p:nvPr>
            <p:ph type="ftr" idx="44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DEPARTMENT OF COMPUTER SCIENCE AND ENGINEERING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45"/>
          </p:nvPr>
        </p:nvSpPr>
        <p:spPr>
          <a:xfrm>
            <a:off x="9900360" y="6459840"/>
            <a:ext cx="13111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1CE136-90ED-4A6B-87B5-5A56AA0250F7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3f3f3f"/>
                </a:solidFill>
                <a:latin typeface="Times New Roman"/>
                <a:ea typeface="Times New Roman"/>
              </a:rPr>
              <a:t>Literature Review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8" name="Google Shape;166;p6"/>
          <p:cNvGraphicFramePr/>
          <p:nvPr/>
        </p:nvGraphicFramePr>
        <p:xfrm>
          <a:off x="289080" y="1629000"/>
          <a:ext cx="11717640" cy="4652640"/>
        </p:xfrm>
        <a:graphic>
          <a:graphicData uri="http://schemas.openxmlformats.org/drawingml/2006/table">
            <a:tbl>
              <a:tblPr/>
              <a:tblGrid>
                <a:gridCol w="807840"/>
                <a:gridCol w="2169000"/>
                <a:gridCol w="2882160"/>
                <a:gridCol w="1953000"/>
                <a:gridCol w="1953000"/>
                <a:gridCol w="1953000"/>
              </a:tblGrid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Sl. No.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Author &amp; Year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Title of the Paper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Key Focus / Method Used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Findings / Contribution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Limitations / Research Gap Identified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180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M. Steichen , 2018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Blockchain-Based Decentralized Access Control for IPFS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Blockchain access control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Secure authorization over IPFS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Does not address key confidentiality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180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J. Sun , 2020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Blockchain-Based Secure Storage for Medical Records in IPFS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Secure healthcare data storage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Combines IPFS &amp; blockchain securely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Centralized encryption key storage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92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Q. Zheng , 2018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IPFS-Based Storage Model for Blockchain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Reducing blockchain storage cost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Efficient off-chain data storage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Security mechanisms not explored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92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E. Daniel &amp; F. Tschorsch, 2022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IPFS and Friends: A Qualitative Comparison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Comparison of P2P storage systems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Evaluates IPFS strengths and weaknesses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No trustless security model proposed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9" name="PlaceHolder 2"/>
          <p:cNvSpPr>
            <a:spLocks noGrp="1"/>
          </p:cNvSpPr>
          <p:nvPr>
            <p:ph type="ftr" idx="46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DEPARTMENT OF COMPUTER SCIENCE AND ENGINEERING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47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029ADD-6881-42C7-ABE8-BD6F8B34252F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3f3f3f"/>
                </a:solidFill>
                <a:latin typeface="Times New Roman"/>
                <a:ea typeface="Times New Roman"/>
              </a:rPr>
              <a:t>Proposed System / Design 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ftr" idx="48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DEPARTMENT OF COMPUTER SCIENCE AND ENGINEERING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49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5A1ADD-83A1-437A-BF99-FB8B9F759A07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2743200" y="1828800"/>
            <a:ext cx="640080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3f3f3f"/>
                </a:solidFill>
                <a:latin typeface="Times New Roman"/>
                <a:ea typeface="Times New Roman"/>
              </a:rPr>
              <a:t>Proposed System / Design 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81111"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Arial"/>
                <a:ea typeface="Arial"/>
              </a:rPr>
              <a:t>Proposed Decentralised SAN Architecture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88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Client-Side Encryption</a:t>
            </a: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using AES-256-GCM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8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Key Splitting</a:t>
            </a: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using Shamir’s Secret Sharing (k=3, n=5)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8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Encrypted Data Storage</a:t>
            </a: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on IPFS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8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Distributed Key Nodes</a:t>
            </a: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(Alpha–Epsilon)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8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Blockchain Smart Contract</a:t>
            </a: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for metadata &amp; ownership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Arial"/>
                <a:ea typeface="Arial"/>
              </a:rPr>
              <a:t>Tools &amp; Technologies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88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Frontend: React, Vite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8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Backend: Node.js, Express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8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Storage: IPFS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8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Database: PostgreSQL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8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Blockchain: Ethereum (Ganache)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50"/>
          </p:nvPr>
        </p:nvSpPr>
        <p:spPr>
          <a:xfrm>
            <a:off x="9900360" y="6459840"/>
            <a:ext cx="13111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57BD27-1402-4925-94BD-6F1858B70D84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3f3f3f"/>
                </a:solidFill>
                <a:latin typeface="Times New Roman"/>
                <a:ea typeface="Times New Roman"/>
              </a:rPr>
              <a:t>Implementation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81111" lnSpcReduction="10000"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Arial"/>
                <a:ea typeface="Arial"/>
              </a:rPr>
              <a:t>Implementation Details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Client Side</a:t>
            </a:r>
            <a:br>
              <a:rPr sz="1100"/>
            </a:b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826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File encryption in browser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826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Key splitting before upload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Backend</a:t>
            </a:r>
            <a:br>
              <a:rPr sz="1100"/>
            </a:b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826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Node.js cluster managing shard distribution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826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Independent PostgreSQL databases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Blockchain</a:t>
            </a:r>
            <a:br>
              <a:rPr sz="1100"/>
            </a:b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826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Smart contract storing: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282600">
              <a:lnSpc>
                <a:spcPct val="115000"/>
              </a:lnSpc>
              <a:buClr>
                <a:srgbClr val="000000"/>
              </a:buClr>
              <a:buFont typeface="Arial"/>
              <a:buChar char="■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File hash (CID)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282600">
              <a:lnSpc>
                <a:spcPct val="115000"/>
              </a:lnSpc>
              <a:buClr>
                <a:srgbClr val="000000"/>
              </a:buClr>
              <a:buFont typeface="Arial"/>
              <a:buChar char="■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Owner address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Environment</a:t>
            </a:r>
            <a:br>
              <a:rPr sz="1100"/>
            </a:b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826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OS: Linux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826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Tools: MetaMask, Ganache, IPFS daemon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914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ftr" idx="51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DEPARTMENT OF COMPUTER SCIENCE AND ENGINEERING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sldNum" idx="52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783033-44C9-4C3A-A83C-6D5865314568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2" name="Google Shape;193;p8" descr=""/>
          <p:cNvPicPr/>
          <p:nvPr/>
        </p:nvPicPr>
        <p:blipFill>
          <a:blip r:embed="rId1"/>
          <a:stretch/>
        </p:blipFill>
        <p:spPr>
          <a:xfrm>
            <a:off x="8144280" y="462960"/>
            <a:ext cx="3578760" cy="2712960"/>
          </a:xfrm>
          <a:prstGeom prst="rect">
            <a:avLst/>
          </a:prstGeom>
          <a:ln w="0">
            <a:noFill/>
          </a:ln>
        </p:spPr>
      </p:pic>
      <p:pic>
        <p:nvPicPr>
          <p:cNvPr id="153" name="Google Shape;194;p8" descr=""/>
          <p:cNvPicPr/>
          <p:nvPr/>
        </p:nvPicPr>
        <p:blipFill>
          <a:blip r:embed="rId2"/>
          <a:stretch/>
        </p:blipFill>
        <p:spPr>
          <a:xfrm>
            <a:off x="7442640" y="3532680"/>
            <a:ext cx="4280400" cy="2477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3f3f3f"/>
                </a:solidFill>
                <a:latin typeface="Times New Roman"/>
                <a:ea typeface="Times New Roman"/>
              </a:rPr>
              <a:t>Implementation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ftr" idx="53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DEPARTMENT OF COMPUTER SCIENCE AND ENGINEERING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54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24168D-017E-460E-8ED4-FEBD9FEBC405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7" name="Google Shape;202;p9" descr=""/>
          <p:cNvPicPr/>
          <p:nvPr/>
        </p:nvPicPr>
        <p:blipFill>
          <a:blip r:embed="rId1"/>
          <a:stretch/>
        </p:blipFill>
        <p:spPr>
          <a:xfrm>
            <a:off x="152280" y="1889640"/>
            <a:ext cx="5580000" cy="4416840"/>
          </a:xfrm>
          <a:prstGeom prst="rect">
            <a:avLst/>
          </a:prstGeom>
          <a:ln w="0">
            <a:noFill/>
          </a:ln>
        </p:spPr>
      </p:pic>
      <p:pic>
        <p:nvPicPr>
          <p:cNvPr id="158" name="Google Shape;203;p9" descr=""/>
          <p:cNvPicPr/>
          <p:nvPr/>
        </p:nvPicPr>
        <p:blipFill>
          <a:blip r:embed="rId2"/>
          <a:stretch/>
        </p:blipFill>
        <p:spPr>
          <a:xfrm>
            <a:off x="5885640" y="1889640"/>
            <a:ext cx="5580000" cy="441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3f3f3f"/>
                </a:solidFill>
                <a:latin typeface="Times New Roman"/>
                <a:ea typeface="Times New Roman"/>
              </a:rPr>
              <a:t>Results &amp; Analysis 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Arial"/>
                <a:ea typeface="Arial"/>
              </a:rPr>
              <a:t>Performance Observations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Encryption overhead is minimal (client-side)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IPFS upload scales efficiently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Key reconstruction successful with ≥3 shards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914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ftr" idx="55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DEPARTMENT OF COMPUTER SCIENCE AND ENGINEERING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sldNum" idx="56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D516D0-86CB-49B2-82DF-DE46396F498B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63" name="Google Shape;212;p11" descr=""/>
          <p:cNvPicPr/>
          <p:nvPr/>
        </p:nvPicPr>
        <p:blipFill>
          <a:blip r:embed="rId1"/>
          <a:srcRect l="0" t="4957" r="0" b="0"/>
          <a:stretch/>
        </p:blipFill>
        <p:spPr>
          <a:xfrm>
            <a:off x="785160" y="3489840"/>
            <a:ext cx="6485760" cy="249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3f3f3f"/>
                </a:solidFill>
                <a:latin typeface="Times New Roman"/>
                <a:ea typeface="Times New Roman"/>
              </a:rPr>
              <a:t>Security Measures (if applicable) 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Arial"/>
                <a:ea typeface="Arial"/>
              </a:rPr>
              <a:t>Security Mechanisms Used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Encryption:</a:t>
            </a: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AES-256-GCM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Key Protection:</a:t>
            </a: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Shamir’s Secret Sharing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Access Control:</a:t>
            </a: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Blockchain-based ownership verification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Isolation:</a:t>
            </a: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Independent key nodes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Zero-Knowledge Storage:</a:t>
            </a: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No plaintext exposure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Arial"/>
                <a:ea typeface="Arial"/>
              </a:rPr>
              <a:t>SAN Concepts Applied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Logical zoning of key nodes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Key masking through secret sharing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Secure API access control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914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ftr" idx="57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DEPARTMENT OF COMPUTER SCIENCE AND ENGINEERING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sldNum" idx="58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8B854F-97E0-4D87-A820-38607BE485E1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3f3f3f"/>
                </a:solidFill>
                <a:latin typeface="Times New Roman"/>
                <a:ea typeface="Times New Roman"/>
              </a:rPr>
              <a:t>Conclusion &amp; Future Scope  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75000"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Arial"/>
                <a:ea typeface="Arial"/>
              </a:rPr>
              <a:t>Conclusion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Successfully designed and implemented a </a:t>
            </a: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Trustless Decentralized SAN</a:t>
            </a:r>
            <a:br>
              <a:rPr sz="1100"/>
            </a:b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Eliminated single points of trust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Ensured </a:t>
            </a: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confidentiality, integrity, and availability</a:t>
            </a:r>
            <a:br>
              <a:rPr sz="1100"/>
            </a:b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Demonstrated secure file upload and retrieval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System is </a:t>
            </a: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academically valid and practically scalable</a:t>
            </a:r>
            <a:br>
              <a:rPr sz="1100"/>
            </a:br>
            <a:r>
              <a:rPr b="1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Arial"/>
                <a:ea typeface="Arial"/>
              </a:rPr>
              <a:t>Future Enhancements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Smart-contract based access delegation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Integration with Filecoin incentives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Threshold signatures instead of key reconstruction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Large-scale node federation</a:t>
            </a:r>
            <a:br>
              <a:rPr sz="1100"/>
            </a:b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826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Performance benchmarking on public Ethereum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914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ftr" idx="59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DEPARTMENT OF COMPUTER SCIENCE AND ENGINEERING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sldNum" idx="60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3DD68E-B930-4331-9ED2-EA5653C483F3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3f3f3f"/>
                </a:solidFill>
                <a:latin typeface="Times New Roman"/>
                <a:ea typeface="Times New Roman"/>
              </a:rPr>
              <a:t>References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1097280" y="201708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[1] D. Yang, X. Liu, Y. Zhang, and H. Wang, “An optimized encryption storage scheme for blockchain data using threshold secret sharing,” </a:t>
            </a:r>
            <a:r>
              <a:rPr b="0" i="1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IEEE Access</a:t>
            </a: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, vol. 12, pp. 107956–107975, 2024.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[2] M. R. Haque, N. Abdullah, A. Manzoor, and A. Alhajj, “An integrated blockchain and IPFS-based solution for secure and efficient version control,” </a:t>
            </a:r>
            <a:r>
              <a:rPr b="0" i="1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PLoS ONE</a:t>
            </a: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, vol. 20, no. 9, p. e0331131, 2025.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[3] P. Sharma, V. Garg, M. A. Kaafar, and J. P. Shim, “Blockchain-based decentralized architecture for cloud storage,” </a:t>
            </a:r>
            <a:r>
              <a:rPr b="0" i="1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Journal of Cloud Computing</a:t>
            </a: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, vol. 10, no. 1, p. 9, 2021.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[4] T. V. Doan, V. Bajpai, Y. Psaras, and J. Ott, “Toward decentralized cloud storage with IPFS: Opportunities, challenges, and future considerations,” </a:t>
            </a:r>
            <a:r>
              <a:rPr b="0" i="1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IEEE Internet Computing</a:t>
            </a: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, vol. 26, no. 6, pp. 7–15, Nov./Dec. 2022.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[5] J. Benet, “IPFS—Content addressed, versioned, P2P file system,” </a:t>
            </a:r>
            <a:r>
              <a:rPr b="0" i="1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arXiv preprint arXiv:1407.3561</a:t>
            </a: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, 2014.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[6] M. Steichen, B. Fiz, R. Norvill, W. M. Shbair, and R. State, “Blockchain-based, decentralized access control for IPFS,” in </a:t>
            </a:r>
            <a:r>
              <a:rPr b="0" i="1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Proc. IEEE Int. Conf. Internet of Things (iThings)</a:t>
            </a: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, 2018, pp. 1499–1506.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[7] J. Sun, X. Yao, S. Wang, and Y. Wu, “Blockchain-based secure storage and access scheme for electronic medical records in IPFS,” </a:t>
            </a:r>
            <a:r>
              <a:rPr b="0" i="1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IEEE Access</a:t>
            </a: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, vol. 8, pp. 59389–59401, 2020.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[8] Q. Zheng, Y. Li, P. Chen, and X. Dong, “An innovative IPFS-based storage model for blockchain,” in </a:t>
            </a:r>
            <a:r>
              <a:rPr b="0" i="1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Proc. IEEE/WIC/ACM Int. Conf. Web Intelligence</a:t>
            </a: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, 2018, pp. 704–708.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[9] E. Daniel and F. Tschorsch, “IPFS and friends: A qualitative comparison of next generation peer-to-peer data networks,” </a:t>
            </a:r>
            <a:r>
              <a:rPr b="0" i="1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IEEE Communications Surveys &amp; Tutorials</a:t>
            </a: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, vol. 24, no. 1, pp. 31–52, 2022.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[10] D. Trautwein et al., “Design and evaluation of IPFS: A storage layer for the decentralized web,” in </a:t>
            </a:r>
            <a:r>
              <a:rPr b="0" i="1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Proc. ACM SIGCOMM</a:t>
            </a:r>
            <a:r>
              <a:rPr b="0" lang="en-US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, 2022, pp. 739–752.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ftr" idx="61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DEPARTMENT OF COMPUTER SCIENCE AND ENGINEERING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sldNum" idx="62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D2C0D3-6596-4AF6-9CC8-D6DE74F07935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2020-08-26T05:56:20Z</dcterms:created>
  <dc:creator>Sanjeetha R</dc:creator>
  <dc:description/>
  <dc:language>en-US</dc:language>
  <cp:lastModifiedBy/>
  <dcterms:modified xsi:type="dcterms:W3CDTF">2025-12-17T10:14:52Z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